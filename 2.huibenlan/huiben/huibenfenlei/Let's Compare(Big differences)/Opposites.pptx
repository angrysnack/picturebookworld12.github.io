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77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</p:sldIdLst>
  <p:sldSz cx="6858000" cy="9906000" type="A4"/>
  <p:notesSz cx="6858000" cy="9144000"/>
  <p:custDataLst>
    <p:tags r:id="rId28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0992DA46-D771-4579-9718-CE9D4D2D3538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77"/>
          </p14:sldIdLst>
        </p14:section>
        <p14:section name="无标题节" id="{070E9C5B-CC1B-4807-A0B9-2B7BFF31FC81}">
          <p14:sldIdLst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00"/>
    <a:srgbClr val="FF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72" d="100"/>
          <a:sy n="72" d="100"/>
        </p:scale>
        <p:origin x="1764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8" Type="http://schemas.openxmlformats.org/officeDocument/2006/relationships/tags" Target="tags/tag1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C3CA8-2BB2-4B05-A8A7-3CD10739E18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EAC44-5B5A-4893-9BA4-0BDC7475C0F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C3CA8-2BB2-4B05-A8A7-3CD10739E18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EAC44-5B5A-4893-9BA4-0BDC7475C0F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C3CA8-2BB2-4B05-A8A7-3CD10739E18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EAC44-5B5A-4893-9BA4-0BDC7475C0F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C3CA8-2BB2-4B05-A8A7-3CD10739E18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EAC44-5B5A-4893-9BA4-0BDC7475C0F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C3CA8-2BB2-4B05-A8A7-3CD10739E18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EAC44-5B5A-4893-9BA4-0BDC7475C0F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C3CA8-2BB2-4B05-A8A7-3CD10739E18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EAC44-5B5A-4893-9BA4-0BDC7475C0F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C3CA8-2BB2-4B05-A8A7-3CD10739E18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EAC44-5B5A-4893-9BA4-0BDC7475C0F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C3CA8-2BB2-4B05-A8A7-3CD10739E18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EAC44-5B5A-4893-9BA4-0BDC7475C0F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C3CA8-2BB2-4B05-A8A7-3CD10739E18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EAC44-5B5A-4893-9BA4-0BDC7475C0F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C3CA8-2BB2-4B05-A8A7-3CD10739E18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EAC44-5B5A-4893-9BA4-0BDC7475C0F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C3CA8-2BB2-4B05-A8A7-3CD10739E18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EAC44-5B5A-4893-9BA4-0BDC7475C0F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FC3CA8-2BB2-4B05-A8A7-3CD10739E18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AEAC44-5B5A-4893-9BA4-0BDC7475C0F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slide" Target="slide22.xml"/><Relationship Id="rId8" Type="http://schemas.openxmlformats.org/officeDocument/2006/relationships/slide" Target="slide20.xml"/><Relationship Id="rId7" Type="http://schemas.openxmlformats.org/officeDocument/2006/relationships/slide" Target="slide21.xml"/><Relationship Id="rId6" Type="http://schemas.openxmlformats.org/officeDocument/2006/relationships/slide" Target="slide18.xml"/><Relationship Id="rId5" Type="http://schemas.openxmlformats.org/officeDocument/2006/relationships/slide" Target="slide14.xml"/><Relationship Id="rId4" Type="http://schemas.openxmlformats.org/officeDocument/2006/relationships/slide" Target="slide17.xml"/><Relationship Id="rId3" Type="http://schemas.openxmlformats.org/officeDocument/2006/relationships/slide" Target="slide15.xml"/><Relationship Id="rId2" Type="http://schemas.openxmlformats.org/officeDocument/2006/relationships/slide" Target="slide16.xml"/><Relationship Id="rId11" Type="http://schemas.openxmlformats.org/officeDocument/2006/relationships/slideLayout" Target="../slideLayouts/slideLayout2.xml"/><Relationship Id="rId10" Type="http://schemas.openxmlformats.org/officeDocument/2006/relationships/slide" Target="slide19.xml"/><Relationship Id="rId1" Type="http://schemas.openxmlformats.org/officeDocument/2006/relationships/slide" Target="slide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slide" Target="slide12.xml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slide" Target="slide12.xml"/><Relationship Id="rId1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slide" Target="slide12.xml"/><Relationship Id="rId1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slide" Target="slide12.xml"/><Relationship Id="rId1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slide" Target="slide12.xml"/><Relationship Id="rId1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slide" Target="slide12.xml"/><Relationship Id="rId1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slide" Target="slide12.xml"/><Relationship Id="rId1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slide" Target="slide12.xml"/><Relationship Id="rId1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slide" Target="slide12.xml"/><Relationship Id="rId1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slide" Target="slide12.xml"/><Relationship Id="rId1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64235" y="741680"/>
            <a:ext cx="5136515" cy="900430"/>
          </a:xfrm>
        </p:spPr>
        <p:txBody>
          <a:bodyPr>
            <a:noAutofit/>
          </a:bodyPr>
          <a:lstStyle/>
          <a:p>
            <a:r>
              <a:rPr lang="en-US" altLang="zh-CN" sz="8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Opposites</a:t>
            </a:r>
            <a:endParaRPr lang="zh-CN" altLang="en-US" sz="8000" b="1" dirty="0">
              <a:latin typeface="Cambria Math" panose="02040503050406030204" pitchFamily="18" charset="0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707957"/>
            <a:ext cx="6858000" cy="702259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96018" y="426466"/>
            <a:ext cx="6465964" cy="8812022"/>
          </a:xfr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13568" y="8503920"/>
            <a:ext cx="4630864" cy="89384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72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This is up.</a:t>
            </a:r>
            <a:endParaRPr lang="zh-CN" altLang="en-US" sz="7200" b="1" dirty="0">
              <a:latin typeface="Cambria Math" panose="020405030504060302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"/>
            <a:ext cx="6766560" cy="81838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70668" y="8884136"/>
            <a:ext cx="5316664" cy="102186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CN" sz="72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This is down.</a:t>
            </a:r>
            <a:endParaRPr lang="zh-CN" altLang="en-US" sz="7200" b="1" dirty="0">
              <a:latin typeface="Cambria Math" panose="020405030504060302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24185"/>
            <a:ext cx="6858000" cy="839802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540764" y="8797031"/>
            <a:ext cx="3941063" cy="11864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72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This is on.</a:t>
            </a:r>
            <a:endParaRPr lang="zh-CN" altLang="en-US" sz="7200" b="1" dirty="0">
              <a:latin typeface="Cambria Math" panose="02040503050406030204" pitchFamily="18" charset="0"/>
              <a:ea typeface="宋体" panose="0201060003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3152"/>
            <a:ext cx="6858000" cy="826962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18724" y="8787384"/>
            <a:ext cx="4420552" cy="104929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CN" sz="72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This is off.</a:t>
            </a:r>
            <a:endParaRPr lang="zh-CN" altLang="en-US" sz="7200" b="1" dirty="0">
              <a:latin typeface="Cambria Math" panose="020405030504060302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858000" cy="832668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43236" y="8664680"/>
            <a:ext cx="5371528" cy="12413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72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This is open.</a:t>
            </a:r>
            <a:endParaRPr lang="zh-CN" altLang="en-US" sz="7200" b="1" dirty="0">
              <a:latin typeface="Cambria Math" panose="020405030504060302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858000" cy="817558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936" y="8737832"/>
            <a:ext cx="5600128" cy="11681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72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This is closed.</a:t>
            </a:r>
            <a:endParaRPr lang="zh-CN" altLang="en-US" sz="7200" b="1" dirty="0">
              <a:latin typeface="Cambria Math" panose="020405030504060302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80" y="128016"/>
            <a:ext cx="6703639" cy="833932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66680" y="8838416"/>
            <a:ext cx="5124640" cy="106758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CN" sz="72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This is fast.</a:t>
            </a:r>
            <a:endParaRPr lang="zh-CN" altLang="en-US" sz="7200" b="1" dirty="0">
              <a:latin typeface="Cambria Math" panose="020405030504060302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" y="0"/>
            <a:ext cx="6638544" cy="815247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98100" y="8826515"/>
            <a:ext cx="5261800" cy="11041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72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This is slow.</a:t>
            </a:r>
            <a:endParaRPr lang="zh-CN" altLang="en-US" sz="7200" b="1" dirty="0">
              <a:latin typeface="Cambria Math" panose="020405030504060302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33884"/>
            <a:ext cx="6757416" cy="823287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90353" y="8460644"/>
            <a:ext cx="5682424" cy="102856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32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This is _____________________ .</a:t>
            </a:r>
            <a:endParaRPr lang="en-US" altLang="zh-CN" sz="320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>
              <a:buNone/>
            </a:pPr>
            <a:r>
              <a:rPr lang="en-US" altLang="zh-CN" sz="32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This is _____________________ .</a:t>
            </a:r>
            <a:endParaRPr lang="zh-CN" altLang="en-US" sz="3200" b="1" dirty="0">
              <a:latin typeface="Cambria Math" panose="020405030504060302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896" y="0"/>
            <a:ext cx="6382512" cy="789371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星形: 五角 3">
            <a:hlinkClick r:id="rId1" action="ppaction://hlinksldjump"/>
          </p:cNvPr>
          <p:cNvSpPr/>
          <p:nvPr/>
        </p:nvSpPr>
        <p:spPr>
          <a:xfrm>
            <a:off x="914400" y="1294867"/>
            <a:ext cx="914400" cy="9144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星形: 五角 4">
            <a:hlinkClick r:id="rId2" action="ppaction://hlinksldjump"/>
          </p:cNvPr>
          <p:cNvSpPr/>
          <p:nvPr/>
        </p:nvSpPr>
        <p:spPr>
          <a:xfrm>
            <a:off x="4669536" y="3504196"/>
            <a:ext cx="914400" cy="914400"/>
          </a:xfrm>
          <a:prstGeom prst="star5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星形: 五角 5">
            <a:hlinkClick r:id="rId3" action="ppaction://hlinksldjump"/>
          </p:cNvPr>
          <p:cNvSpPr/>
          <p:nvPr/>
        </p:nvSpPr>
        <p:spPr>
          <a:xfrm>
            <a:off x="914400" y="3444899"/>
            <a:ext cx="914400" cy="914400"/>
          </a:xfrm>
          <a:prstGeom prst="star5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星形: 五角 6">
            <a:hlinkClick r:id="rId4" action="ppaction://hlinksldjump"/>
          </p:cNvPr>
          <p:cNvSpPr/>
          <p:nvPr/>
        </p:nvSpPr>
        <p:spPr>
          <a:xfrm>
            <a:off x="914400" y="5533382"/>
            <a:ext cx="914400" cy="914400"/>
          </a:xfrm>
          <a:prstGeom prst="star5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星形: 五角 7">
            <a:hlinkClick r:id="rId5" action="ppaction://hlinksldjump"/>
          </p:cNvPr>
          <p:cNvSpPr/>
          <p:nvPr/>
        </p:nvSpPr>
        <p:spPr>
          <a:xfrm>
            <a:off x="4675632" y="1277037"/>
            <a:ext cx="914400" cy="914400"/>
          </a:xfrm>
          <a:prstGeom prst="star5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星形: 五角 8">
            <a:hlinkClick r:id="rId6" action="ppaction://hlinksldjump"/>
          </p:cNvPr>
          <p:cNvSpPr/>
          <p:nvPr/>
        </p:nvSpPr>
        <p:spPr>
          <a:xfrm>
            <a:off x="4669536" y="5533382"/>
            <a:ext cx="914400" cy="914400"/>
          </a:xfrm>
          <a:prstGeom prst="star5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星形: 五角 9">
            <a:hlinkClick r:id="rId7" action="ppaction://hlinksldjump"/>
          </p:cNvPr>
          <p:cNvSpPr/>
          <p:nvPr/>
        </p:nvSpPr>
        <p:spPr>
          <a:xfrm>
            <a:off x="2914650" y="2373241"/>
            <a:ext cx="914400" cy="914400"/>
          </a:xfrm>
          <a:prstGeom prst="star5">
            <a:avLst/>
          </a:prstGeom>
          <a:solidFill>
            <a:srgbClr val="FF33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星形: 五角 10">
            <a:hlinkClick r:id="rId8" action="ppaction://hlinksldjump"/>
          </p:cNvPr>
          <p:cNvSpPr/>
          <p:nvPr/>
        </p:nvSpPr>
        <p:spPr>
          <a:xfrm>
            <a:off x="4678682" y="7339172"/>
            <a:ext cx="914400" cy="914400"/>
          </a:xfrm>
          <a:prstGeom prst="star5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星形: 五角 11">
            <a:hlinkClick r:id="rId9" action="ppaction://hlinksldjump"/>
          </p:cNvPr>
          <p:cNvSpPr/>
          <p:nvPr/>
        </p:nvSpPr>
        <p:spPr>
          <a:xfrm>
            <a:off x="2971800" y="6075080"/>
            <a:ext cx="914400" cy="914400"/>
          </a:xfrm>
          <a:prstGeom prst="star5">
            <a:avLst/>
          </a:prstGeom>
          <a:solidFill>
            <a:srgbClr val="FF99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星形: 五角 12">
            <a:hlinkClick r:id="rId10" action="ppaction://hlinksldjump"/>
          </p:cNvPr>
          <p:cNvSpPr/>
          <p:nvPr/>
        </p:nvSpPr>
        <p:spPr>
          <a:xfrm>
            <a:off x="914400" y="7386622"/>
            <a:ext cx="914400" cy="914400"/>
          </a:xfrm>
          <a:prstGeom prst="star5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278892" y="837776"/>
            <a:ext cx="24323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accent1">
                    <a:lumMod val="5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Happy and sad</a:t>
            </a:r>
            <a:endParaRPr lang="en-US" altLang="zh-CN" sz="2800" b="1" dirty="0">
              <a:solidFill>
                <a:schemeClr val="accent1">
                  <a:lumMod val="5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4774694" y="837450"/>
            <a:ext cx="7223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</a:rPr>
              <a:t>Up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accent3">
                  <a:lumMod val="50000"/>
                </a:schemeClr>
              </a:solidFill>
              <a:effectLst/>
              <a:uLnTx/>
              <a:uFillTx/>
              <a:latin typeface="Cambria Math" panose="02040503050406030204" pitchFamily="18" charset="0"/>
              <a:ea typeface="Cambria Math" panose="02040503050406030204" pitchFamily="18" charset="0"/>
              <a:cs typeface="+mn-cs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850900" y="2921901"/>
            <a:ext cx="1143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</a:rPr>
              <a:t>Down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50000"/>
                </a:schemeClr>
              </a:solidFill>
              <a:effectLst/>
              <a:uLnTx/>
              <a:uFillTx/>
              <a:latin typeface="Cambria Math" panose="02040503050406030204" pitchFamily="18" charset="0"/>
              <a:ea typeface="Cambria Math" panose="02040503050406030204" pitchFamily="18" charset="0"/>
              <a:cs typeface="+mn-cs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4749800" y="2935236"/>
            <a:ext cx="3429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</a:rPr>
              <a:t>On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accent5"/>
              </a:solidFill>
              <a:effectLst/>
              <a:uLnTx/>
              <a:uFillTx/>
              <a:latin typeface="Cambria Math" panose="02040503050406030204" pitchFamily="18" charset="0"/>
              <a:ea typeface="Cambria Math" panose="02040503050406030204" pitchFamily="18" charset="0"/>
              <a:cs typeface="+mn-cs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1003554" y="4969992"/>
            <a:ext cx="7360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</a:rPr>
              <a:t>Off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mbria Math" panose="02040503050406030204" pitchFamily="18" charset="0"/>
              <a:ea typeface="Cambria Math" panose="02040503050406030204" pitchFamily="18" charset="0"/>
              <a:cs typeface="+mn-cs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4679696" y="4911998"/>
            <a:ext cx="4114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</a:rPr>
              <a:t>Open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mbria Math" panose="02040503050406030204" pitchFamily="18" charset="0"/>
              <a:ea typeface="Cambria Math" panose="02040503050406030204" pitchFamily="18" charset="0"/>
              <a:cs typeface="+mn-cs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800100" y="6801556"/>
            <a:ext cx="43936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 b="1" dirty="0">
                <a:solidFill>
                  <a:srgbClr val="92D05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Closed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92D050"/>
              </a:solidFill>
              <a:effectLst/>
              <a:uLnTx/>
              <a:uFillTx/>
              <a:latin typeface="Cambria Math" panose="02040503050406030204" pitchFamily="18" charset="0"/>
              <a:ea typeface="Cambria Math" panose="02040503050406030204" pitchFamily="18" charset="0"/>
              <a:cs typeface="+mn-cs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4750058" y="6815981"/>
            <a:ext cx="43936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</a:rPr>
              <a:t>Fast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uLnTx/>
              <a:uFillTx/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2914650" y="1851946"/>
            <a:ext cx="45354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 b="1" dirty="0">
                <a:solidFill>
                  <a:srgbClr val="FF33CC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Slow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FF33CC"/>
              </a:solidFill>
              <a:effectLst/>
              <a:uLnTx/>
              <a:uFillTx/>
              <a:latin typeface="Cambria Math" panose="02040503050406030204" pitchFamily="18" charset="0"/>
              <a:ea typeface="Cambria Math" panose="02040503050406030204" pitchFamily="18" charset="0"/>
              <a:cs typeface="+mn-cs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2761615" y="5493385"/>
            <a:ext cx="1778635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 b="1" dirty="0">
                <a:solidFill>
                  <a:srgbClr val="FF99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This is…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FF9900"/>
              </a:solidFill>
              <a:effectLst/>
              <a:uLnTx/>
              <a:uFillTx/>
              <a:latin typeface="Cambria Math" panose="02040503050406030204" pitchFamily="18" charset="0"/>
              <a:ea typeface="Cambria Math" panose="02040503050406030204" pitchFamily="18" charset="0"/>
              <a:cs typeface="+mn-cs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00100" y="8304530"/>
            <a:ext cx="6201410" cy="14852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Calibri Light" panose="020F0302020204030204"/>
                <a:sym typeface="+mn-ea"/>
              </a:rPr>
              <a:t>Click on the colored stars to start getting </a:t>
            </a:r>
            <a:b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Calibri Light" panose="020F0302020204030204"/>
                <a:sym typeface="+mn-ea"/>
              </a:rPr>
            </a:b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Calibri Light" panose="020F0302020204030204"/>
                <a:sym typeface="+mn-ea"/>
              </a:rPr>
              <a:t>to know them!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anose="02040503050406030204" pitchFamily="18" charset="0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95383" y="426466"/>
            <a:ext cx="6465964" cy="8812022"/>
          </a:xfrm>
        </p:spPr>
      </p:pic>
      <p:sp>
        <p:nvSpPr>
          <p:cNvPr id="2" name="文本框 1"/>
          <p:cNvSpPr txBox="1"/>
          <p:nvPr/>
        </p:nvSpPr>
        <p:spPr>
          <a:xfrm>
            <a:off x="4480560" y="426720"/>
            <a:ext cx="2451100" cy="8051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4400" b="1" dirty="0">
                <a:solidFill>
                  <a:srgbClr val="FFC000"/>
                </a:solidFill>
                <a:highlight>
                  <a:srgbClr val="FFFF00"/>
                </a:highlight>
                <a:latin typeface="Cambria Math" panose="02040503050406030204" pitchFamily="18" charset="0"/>
                <a:ea typeface="Cambria Math" panose="02040503050406030204" pitchFamily="18" charset="0"/>
                <a:hlinkClick r:id="rId2" action="ppaction://hlinksldjump"/>
              </a:rPr>
              <a:t>RETURN</a:t>
            </a:r>
            <a:endParaRPr lang="en-US" altLang="zh-CN" sz="4400" b="1" dirty="0">
              <a:solidFill>
                <a:srgbClr val="FFC000"/>
              </a:solidFill>
              <a:highlight>
                <a:srgbClr val="FFFF00"/>
              </a:highlight>
              <a:latin typeface="Cambria Math" panose="02040503050406030204" pitchFamily="18" charset="0"/>
              <a:ea typeface="Cambria Math" panose="02040503050406030204" pitchFamily="18" charset="0"/>
              <a:hlinkClick r:id="rId2" action="ppaction://hlinksldjump"/>
            </a:endParaRP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13568" y="8503920"/>
            <a:ext cx="4630864" cy="89384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72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This is up.</a:t>
            </a:r>
            <a:endParaRPr lang="zh-CN" altLang="en-US" sz="7200" b="1" dirty="0">
              <a:latin typeface="Cambria Math" panose="020405030504060302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"/>
            <a:ext cx="6766560" cy="818388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480560" y="426720"/>
            <a:ext cx="2451100" cy="8051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4400" b="1" dirty="0">
                <a:solidFill>
                  <a:srgbClr val="FFC000"/>
                </a:solidFill>
                <a:highlight>
                  <a:srgbClr val="FFFF00"/>
                </a:highlight>
                <a:latin typeface="Cambria Math" panose="02040503050406030204" pitchFamily="18" charset="0"/>
                <a:ea typeface="Cambria Math" panose="02040503050406030204" pitchFamily="18" charset="0"/>
                <a:hlinkClick r:id="rId2" action="ppaction://hlinksldjump"/>
              </a:rPr>
              <a:t>RETURN</a:t>
            </a:r>
            <a:endParaRPr lang="en-US" altLang="zh-CN" sz="4400" b="1" dirty="0">
              <a:solidFill>
                <a:srgbClr val="FFC000"/>
              </a:solidFill>
              <a:highlight>
                <a:srgbClr val="FFFF00"/>
              </a:highlight>
              <a:latin typeface="Cambria Math" panose="02040503050406030204" pitchFamily="18" charset="0"/>
              <a:ea typeface="Cambria Math" panose="02040503050406030204" pitchFamily="18" charset="0"/>
              <a:hlinkClick r:id="rId2" action="ppaction://hlinksldjump"/>
            </a:endParaRP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70668" y="8884136"/>
            <a:ext cx="5316664" cy="1021864"/>
          </a:xfrm>
        </p:spPr>
        <p:txBody>
          <a:bodyPr>
            <a:normAutofit fontScale="90000"/>
          </a:bodyPr>
          <a:lstStyle/>
          <a:p>
            <a:pPr marL="0" indent="0">
              <a:buNone/>
            </a:pPr>
            <a:r>
              <a:rPr lang="en-US" altLang="zh-CN" sz="72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This is down.</a:t>
            </a:r>
            <a:endParaRPr lang="zh-CN" altLang="en-US" sz="7200" b="1" dirty="0">
              <a:latin typeface="Cambria Math" panose="020405030504060302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24185"/>
            <a:ext cx="6858000" cy="8398024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480560" y="426720"/>
            <a:ext cx="2451100" cy="8051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4400" b="1" dirty="0">
                <a:solidFill>
                  <a:srgbClr val="FFC000"/>
                </a:solidFill>
                <a:highlight>
                  <a:srgbClr val="FFFF00"/>
                </a:highlight>
                <a:latin typeface="Cambria Math" panose="02040503050406030204" pitchFamily="18" charset="0"/>
                <a:ea typeface="Cambria Math" panose="02040503050406030204" pitchFamily="18" charset="0"/>
                <a:hlinkClick r:id="rId2" action="ppaction://hlinksldjump"/>
              </a:rPr>
              <a:t>RETURN</a:t>
            </a:r>
            <a:endParaRPr lang="en-US" altLang="zh-CN" sz="4400" b="1" dirty="0">
              <a:solidFill>
                <a:srgbClr val="FFC000"/>
              </a:solidFill>
              <a:highlight>
                <a:srgbClr val="FFFF00"/>
              </a:highlight>
              <a:latin typeface="Cambria Math" panose="02040503050406030204" pitchFamily="18" charset="0"/>
              <a:ea typeface="Cambria Math" panose="02040503050406030204" pitchFamily="18" charset="0"/>
              <a:hlinkClick r:id="rId2" action="ppaction://hlinksldjump"/>
            </a:endParaRP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540764" y="8797031"/>
            <a:ext cx="3941063" cy="11864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72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This is on</a:t>
            </a:r>
            <a:endParaRPr lang="zh-CN" altLang="en-US" sz="7200" b="1" dirty="0">
              <a:latin typeface="Cambria Math" panose="020405030504060302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3152"/>
            <a:ext cx="6858000" cy="8269626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480560" y="426720"/>
            <a:ext cx="2451100" cy="8051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4400" b="1" dirty="0">
                <a:solidFill>
                  <a:srgbClr val="FFC000"/>
                </a:solidFill>
                <a:highlight>
                  <a:srgbClr val="FFFF00"/>
                </a:highlight>
                <a:latin typeface="Cambria Math" panose="02040503050406030204" pitchFamily="18" charset="0"/>
                <a:ea typeface="Cambria Math" panose="02040503050406030204" pitchFamily="18" charset="0"/>
                <a:hlinkClick r:id="rId2" action="ppaction://hlinksldjump"/>
              </a:rPr>
              <a:t>RETURN</a:t>
            </a:r>
            <a:endParaRPr lang="en-US" altLang="zh-CN" sz="4400" b="1" dirty="0">
              <a:solidFill>
                <a:srgbClr val="FFC000"/>
              </a:solidFill>
              <a:highlight>
                <a:srgbClr val="FFFF00"/>
              </a:highlight>
              <a:latin typeface="Cambria Math" panose="02040503050406030204" pitchFamily="18" charset="0"/>
              <a:ea typeface="Cambria Math" panose="02040503050406030204" pitchFamily="18" charset="0"/>
              <a:hlinkClick r:id="rId2" action="ppaction://hlinksldjump"/>
            </a:endParaRP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18724" y="8787384"/>
            <a:ext cx="4420552" cy="1049296"/>
          </a:xfrm>
        </p:spPr>
        <p:txBody>
          <a:bodyPr>
            <a:normAutofit lnSpcReduction="20000"/>
          </a:bodyPr>
          <a:lstStyle/>
          <a:p>
            <a:pPr marL="0" indent="0">
              <a:buNone/>
            </a:pPr>
            <a:r>
              <a:rPr lang="en-US" altLang="zh-CN" sz="72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This is off.</a:t>
            </a:r>
            <a:endParaRPr lang="zh-CN" altLang="en-US" sz="7200" b="1" dirty="0">
              <a:latin typeface="Cambria Math" panose="020405030504060302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858000" cy="8326686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480560" y="426720"/>
            <a:ext cx="2451100" cy="8051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4400" b="1" dirty="0">
                <a:solidFill>
                  <a:srgbClr val="FFC000"/>
                </a:solidFill>
                <a:highlight>
                  <a:srgbClr val="FFFF00"/>
                </a:highlight>
                <a:latin typeface="Cambria Math" panose="02040503050406030204" pitchFamily="18" charset="0"/>
                <a:ea typeface="Cambria Math" panose="02040503050406030204" pitchFamily="18" charset="0"/>
                <a:hlinkClick r:id="rId2" action="ppaction://hlinksldjump"/>
              </a:rPr>
              <a:t>RETURN</a:t>
            </a:r>
            <a:endParaRPr lang="en-US" altLang="zh-CN" sz="4400" b="1" dirty="0">
              <a:solidFill>
                <a:srgbClr val="FFC000"/>
              </a:solidFill>
              <a:highlight>
                <a:srgbClr val="FFFF00"/>
              </a:highlight>
              <a:latin typeface="Cambria Math" panose="02040503050406030204" pitchFamily="18" charset="0"/>
              <a:ea typeface="Cambria Math" panose="02040503050406030204" pitchFamily="18" charset="0"/>
              <a:hlinkClick r:id="rId2" action="ppaction://hlinksldjump"/>
            </a:endParaRP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43236" y="8664680"/>
            <a:ext cx="5371528" cy="12413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72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This is open.</a:t>
            </a:r>
            <a:endParaRPr lang="zh-CN" altLang="en-US" sz="7200" b="1" dirty="0">
              <a:latin typeface="Cambria Math" panose="020405030504060302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858000" cy="817558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480560" y="426720"/>
            <a:ext cx="2451100" cy="8051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4400" b="1" dirty="0">
                <a:solidFill>
                  <a:srgbClr val="FFC000"/>
                </a:solidFill>
                <a:highlight>
                  <a:srgbClr val="FFFF00"/>
                </a:highlight>
                <a:latin typeface="Cambria Math" panose="02040503050406030204" pitchFamily="18" charset="0"/>
                <a:ea typeface="Cambria Math" panose="02040503050406030204" pitchFamily="18" charset="0"/>
                <a:hlinkClick r:id="rId2" action="ppaction://hlinksldjump"/>
              </a:rPr>
              <a:t>RETURN</a:t>
            </a:r>
            <a:endParaRPr lang="en-US" altLang="zh-CN" sz="4400" b="1" dirty="0">
              <a:solidFill>
                <a:srgbClr val="FFC000"/>
              </a:solidFill>
              <a:highlight>
                <a:srgbClr val="FFFF00"/>
              </a:highlight>
              <a:latin typeface="Cambria Math" panose="02040503050406030204" pitchFamily="18" charset="0"/>
              <a:ea typeface="Cambria Math" panose="02040503050406030204" pitchFamily="18" charset="0"/>
              <a:hlinkClick r:id="rId2" action="ppaction://hlinksldjump"/>
            </a:endParaRPr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936" y="8737832"/>
            <a:ext cx="5600128" cy="11681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72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This is closed.</a:t>
            </a:r>
            <a:endParaRPr lang="zh-CN" altLang="en-US" sz="7200" b="1" dirty="0">
              <a:latin typeface="Cambria Math" panose="020405030504060302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80" y="128016"/>
            <a:ext cx="6703639" cy="8339327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480560" y="426720"/>
            <a:ext cx="2451100" cy="8051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4400" b="1" dirty="0">
                <a:solidFill>
                  <a:srgbClr val="FFC000"/>
                </a:solidFill>
                <a:highlight>
                  <a:srgbClr val="FFFF00"/>
                </a:highlight>
                <a:latin typeface="Cambria Math" panose="02040503050406030204" pitchFamily="18" charset="0"/>
                <a:ea typeface="Cambria Math" panose="02040503050406030204" pitchFamily="18" charset="0"/>
                <a:hlinkClick r:id="rId2" action="ppaction://hlinksldjump"/>
              </a:rPr>
              <a:t>RETURN</a:t>
            </a:r>
            <a:endParaRPr lang="en-US" altLang="zh-CN" sz="4400" b="1" dirty="0">
              <a:solidFill>
                <a:srgbClr val="FFC000"/>
              </a:solidFill>
              <a:highlight>
                <a:srgbClr val="FFFF00"/>
              </a:highlight>
              <a:latin typeface="Cambria Math" panose="02040503050406030204" pitchFamily="18" charset="0"/>
              <a:ea typeface="Cambria Math" panose="02040503050406030204" pitchFamily="18" charset="0"/>
              <a:hlinkClick r:id="rId2" action="ppaction://hlinksldjump"/>
            </a:endParaRPr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66680" y="8838416"/>
            <a:ext cx="5124640" cy="106758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CN" sz="72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This is fast.</a:t>
            </a:r>
            <a:endParaRPr lang="zh-CN" altLang="en-US" sz="7200" b="1" dirty="0">
              <a:latin typeface="Cambria Math" panose="020405030504060302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" y="0"/>
            <a:ext cx="6638544" cy="8152479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480560" y="426720"/>
            <a:ext cx="2451100" cy="8051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4400" b="1" dirty="0">
                <a:solidFill>
                  <a:srgbClr val="FFC000"/>
                </a:solidFill>
                <a:highlight>
                  <a:srgbClr val="FFFF00"/>
                </a:highlight>
                <a:latin typeface="Cambria Math" panose="02040503050406030204" pitchFamily="18" charset="0"/>
                <a:ea typeface="Cambria Math" panose="02040503050406030204" pitchFamily="18" charset="0"/>
                <a:hlinkClick r:id="rId2" action="ppaction://hlinksldjump"/>
              </a:rPr>
              <a:t>RETURN</a:t>
            </a:r>
            <a:endParaRPr lang="en-US" altLang="zh-CN" sz="4400" b="1" dirty="0">
              <a:solidFill>
                <a:srgbClr val="FFC000"/>
              </a:solidFill>
              <a:highlight>
                <a:srgbClr val="FFFF00"/>
              </a:highlight>
              <a:latin typeface="Cambria Math" panose="02040503050406030204" pitchFamily="18" charset="0"/>
              <a:ea typeface="Cambria Math" panose="02040503050406030204" pitchFamily="18" charset="0"/>
              <a:hlinkClick r:id="rId2" action="ppaction://hlinksldjump"/>
            </a:endParaRPr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98100" y="8826515"/>
            <a:ext cx="5261800" cy="11041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72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This is slow.</a:t>
            </a:r>
            <a:endParaRPr lang="zh-CN" altLang="en-US" sz="7200" b="1" dirty="0">
              <a:latin typeface="Cambria Math" panose="020405030504060302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33884"/>
            <a:ext cx="6757416" cy="8232876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480560" y="426720"/>
            <a:ext cx="2451100" cy="8051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4400" b="1" dirty="0">
                <a:solidFill>
                  <a:srgbClr val="FFC000"/>
                </a:solidFill>
                <a:highlight>
                  <a:srgbClr val="FFFF00"/>
                </a:highlight>
                <a:latin typeface="Cambria Math" panose="02040503050406030204" pitchFamily="18" charset="0"/>
                <a:ea typeface="Cambria Math" panose="02040503050406030204" pitchFamily="18" charset="0"/>
                <a:hlinkClick r:id="rId2" action="ppaction://hlinksldjump"/>
              </a:rPr>
              <a:t>RETURN</a:t>
            </a:r>
            <a:endParaRPr lang="en-US" altLang="zh-CN" sz="4400" b="1" dirty="0">
              <a:solidFill>
                <a:srgbClr val="FFC000"/>
              </a:solidFill>
              <a:highlight>
                <a:srgbClr val="FFFF00"/>
              </a:highlight>
              <a:latin typeface="Cambria Math" panose="02040503050406030204" pitchFamily="18" charset="0"/>
              <a:ea typeface="Cambria Math" panose="02040503050406030204" pitchFamily="18" charset="0"/>
              <a:hlinkClick r:id="rId2" action="ppaction://hlinksldjump"/>
            </a:endParaRPr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0813" y="8393334"/>
            <a:ext cx="5682424" cy="102856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32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This is _____________________ .</a:t>
            </a:r>
            <a:endParaRPr lang="en-US" altLang="zh-CN" sz="320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>
              <a:buNone/>
            </a:pPr>
            <a:r>
              <a:rPr lang="en-US" altLang="zh-CN" sz="32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This is _____________________ .</a:t>
            </a:r>
            <a:endParaRPr lang="zh-CN" altLang="en-US" sz="3200" b="1" dirty="0">
              <a:latin typeface="Cambria Math" panose="020405030504060302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896" y="0"/>
            <a:ext cx="6382512" cy="7893716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480560" y="426720"/>
            <a:ext cx="2451100" cy="8051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4400" b="1" dirty="0">
                <a:solidFill>
                  <a:srgbClr val="FFC000"/>
                </a:solidFill>
                <a:highlight>
                  <a:srgbClr val="FFFF00"/>
                </a:highlight>
                <a:latin typeface="Cambria Math" panose="02040503050406030204" pitchFamily="18" charset="0"/>
                <a:ea typeface="Cambria Math" panose="02040503050406030204" pitchFamily="18" charset="0"/>
                <a:hlinkClick r:id="rId2" action="ppaction://hlinksldjump"/>
              </a:rPr>
              <a:t>RETURN</a:t>
            </a:r>
            <a:endParaRPr lang="en-US" altLang="zh-CN" sz="4400" b="1" dirty="0">
              <a:solidFill>
                <a:srgbClr val="FFC000"/>
              </a:solidFill>
              <a:highlight>
                <a:srgbClr val="FFFF00"/>
              </a:highlight>
              <a:latin typeface="Cambria Math" panose="02040503050406030204" pitchFamily="18" charset="0"/>
              <a:ea typeface="Cambria Math" panose="02040503050406030204" pitchFamily="18" charset="0"/>
              <a:hlinkClick r:id="rId2" action="ppaction://hlinksldjump"/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commondata" val="eyJoZGlkIjoiM2ZhM2IyYWQ1YTJkNDNkYjA5MWNiZTAzOGU1NTkwMmEifQ==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502</Words>
  <Application>WPS 演示</Application>
  <PresentationFormat>A4 纸张(210x297 毫米)</PresentationFormat>
  <Paragraphs>82</Paragraphs>
  <Slides>22</Slides>
  <Notes>0</Notes>
  <HiddenSlides>10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2" baseType="lpstr">
      <vt:lpstr>Arial</vt:lpstr>
      <vt:lpstr>宋体</vt:lpstr>
      <vt:lpstr>Wingdings</vt:lpstr>
      <vt:lpstr>Cambria Math</vt:lpstr>
      <vt:lpstr>Calibri</vt:lpstr>
      <vt:lpstr>等线</vt:lpstr>
      <vt:lpstr>微软雅黑</vt:lpstr>
      <vt:lpstr>Calibri Light</vt:lpstr>
      <vt:lpstr>Arial Unicode MS</vt:lpstr>
      <vt:lpstr>Office 主题​​</vt:lpstr>
      <vt:lpstr>Opposites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进贤 崔</dc:creator>
  <cp:lastModifiedBy>Linda.璽</cp:lastModifiedBy>
  <cp:revision>8</cp:revision>
  <dcterms:created xsi:type="dcterms:W3CDTF">2025-04-02T10:53:00Z</dcterms:created>
  <dcterms:modified xsi:type="dcterms:W3CDTF">2025-04-13T01:41:23Z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A443D98B11B64C639CEF4630C5493B82_13</vt:lpwstr>
  </property>
  <property fmtid="{D5CDD505-2E9C-101B-9397-08002B2CF9AE}" pid="3" name="KSOProductBuildVer">
    <vt:lpwstr>2052-12.1.0.20784</vt:lpwstr>
  </property>
</Properties>
</file>